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60" r:id="rId5"/>
    <p:sldId id="261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3336"/>
    <a:srgbClr val="EDE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F74275-FBD9-43D1-A18E-0025041076D7}" v="198" dt="2026-05-02T15:05:54.780"/>
    <p1510:client id="{756BFA37-1D8C-475B-AEA7-FA7C6F89BC93}" v="93" dt="2026-05-02T14:41:54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79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71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36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576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0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335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54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695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4169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5727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261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FB779-270B-4192-84BA-A697F48306DC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4979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41D4B7-8A53-4C37-8E33-372EAB577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42434" y="253548"/>
            <a:ext cx="5608934" cy="6102802"/>
          </a:xfrm>
          <a:prstGeom prst="rect">
            <a:avLst/>
          </a:prstGeom>
          <a:solidFill>
            <a:srgbClr val="AFABAB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BBA23E-C5F4-80C7-ACCA-A78C0B696C28}"/>
              </a:ext>
            </a:extLst>
          </p:cNvPr>
          <p:cNvSpPr txBox="1"/>
          <p:nvPr/>
        </p:nvSpPr>
        <p:spPr>
          <a:xfrm>
            <a:off x="6614220" y="738321"/>
            <a:ext cx="5069305" cy="74452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92500"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>
                <a:latin typeface="Bookman Old Style"/>
                <a:ea typeface="+mj-ea"/>
                <a:cs typeface="+mj-cs"/>
              </a:rPr>
              <a:t>CIBO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30B15B-CFE8-4FE5-8F6E-666207C945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3024" y="253548"/>
            <a:ext cx="5851795" cy="6102802"/>
          </a:xfrm>
          <a:prstGeom prst="rect">
            <a:avLst/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51AAA3-DDFE-48DE-AF38-BE32846EC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848" y="420017"/>
            <a:ext cx="5532146" cy="5769864"/>
          </a:xfrm>
          <a:prstGeom prst="rect">
            <a:avLst/>
          </a:prstGeom>
          <a:noFill/>
          <a:ln w="6350" cap="sq" cmpd="sng" algn="ctr">
            <a:solidFill>
              <a:srgbClr val="404040"/>
            </a:solidFill>
            <a:prstDash val="solid"/>
            <a:miter lim="800000"/>
          </a:ln>
          <a:effectLst/>
        </p:spPr>
      </p:sp>
      <p:pic>
        <p:nvPicPr>
          <p:cNvPr id="4" name="Рисунок 3" descr="Изображение выглядит как лепесток, растение, Цветоножка, цвето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0D009E1-52FC-4216-6F22-62F6C7BD0E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00" r="-4" b="-4"/>
          <a:stretch>
            <a:fillRect/>
          </a:stretch>
        </p:blipFill>
        <p:spPr>
          <a:xfrm>
            <a:off x="725707" y="740057"/>
            <a:ext cx="4886429" cy="51297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C3D3E4-1468-D7FC-7BE9-723E5723BEC4}"/>
              </a:ext>
            </a:extLst>
          </p:cNvPr>
          <p:cNvSpPr txBox="1"/>
          <p:nvPr/>
        </p:nvSpPr>
        <p:spPr>
          <a:xfrm>
            <a:off x="6706978" y="1366087"/>
            <a:ext cx="4276844" cy="11387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400" b="1"/>
              <a:t>Проект WebServer + API</a:t>
            </a:r>
            <a:endParaRPr lang="ru-RU" sz="1400"/>
          </a:p>
          <a:p>
            <a:br>
              <a:rPr lang="en-US" dirty="0"/>
            </a:br>
            <a:endParaRPr lang="en-US" dirty="0"/>
          </a:p>
          <a:p>
            <a:pPr algn="l"/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19718B-B2E3-4F81-8760-AB2A21A33A8C}"/>
              </a:ext>
            </a:extLst>
          </p:cNvPr>
          <p:cNvSpPr txBox="1"/>
          <p:nvPr/>
        </p:nvSpPr>
        <p:spPr>
          <a:xfrm>
            <a:off x="6345131" y="5997201"/>
            <a:ext cx="5607933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sz="1600">
                <a:latin typeface="Aptos Display"/>
              </a:rPr>
              <a:t>авторы проекта: Дарья Уразова, </a:t>
            </a:r>
            <a:r>
              <a:rPr lang="ru-RU" sz="1600" dirty="0">
                <a:latin typeface="Aptos Display"/>
              </a:rPr>
              <a:t>Алина Бобровская</a:t>
            </a:r>
          </a:p>
        </p:txBody>
      </p:sp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A53FF-A29D-211D-5157-F79B6420E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F7FF3E6-DD2D-06CC-EF86-65439B36A7FF}"/>
              </a:ext>
            </a:extLst>
          </p:cNvPr>
          <p:cNvSpPr/>
          <p:nvPr/>
        </p:nvSpPr>
        <p:spPr>
          <a:xfrm>
            <a:off x="292273" y="292273"/>
            <a:ext cx="4144028" cy="2630465"/>
          </a:xfrm>
          <a:prstGeom prst="roundRect">
            <a:avLst/>
          </a:prstGeom>
          <a:solidFill>
            <a:srgbClr val="EDE8ED"/>
          </a:solidFill>
          <a:ln>
            <a:solidFill>
              <a:srgbClr val="ED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FA2069-620D-213D-45D9-0586EA06E9C4}"/>
              </a:ext>
            </a:extLst>
          </p:cNvPr>
          <p:cNvSpPr txBox="1"/>
          <p:nvPr/>
        </p:nvSpPr>
        <p:spPr>
          <a:xfrm>
            <a:off x="448849" y="448582"/>
            <a:ext cx="3989242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>
                <a:solidFill>
                  <a:srgbClr val="323336"/>
                </a:solidFill>
                <a:latin typeface="Aptos Narrow"/>
              </a:rPr>
              <a:t>Cibo </a:t>
            </a:r>
            <a:r>
              <a:rPr lang="ru-RU">
                <a:solidFill>
                  <a:srgbClr val="323336"/>
                </a:solidFill>
                <a:latin typeface="Aptos Narrow"/>
                <a:ea typeface="+mn-lt"/>
                <a:cs typeface="+mn-lt"/>
              </a:rPr>
              <a:t>— это веб-сайт с рецептами, предназначенный для удобного поиска, публикации и общения пользователей, увлечённых кулинарией. Основная идея проекта — объединить людей, которые любят готовить, в одном удобном и функциональном пространстве.</a:t>
            </a:r>
            <a:endParaRPr lang="ru-RU">
              <a:solidFill>
                <a:srgbClr val="323336"/>
              </a:solidFill>
              <a:latin typeface="Aptos Narrow"/>
            </a:endParaRPr>
          </a:p>
          <a:p>
            <a:endParaRPr lang="ru-RU" dirty="0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AAE7FAD9-6B3D-A765-1ED6-3B5B68726522}"/>
              </a:ext>
            </a:extLst>
          </p:cNvPr>
          <p:cNvSpPr/>
          <p:nvPr/>
        </p:nvSpPr>
        <p:spPr>
          <a:xfrm>
            <a:off x="6522255" y="9605930"/>
            <a:ext cx="4144028" cy="2630465"/>
          </a:xfrm>
          <a:prstGeom prst="roundRect">
            <a:avLst/>
          </a:prstGeom>
          <a:solidFill>
            <a:srgbClr val="EDE8ED"/>
          </a:solidFill>
          <a:ln>
            <a:solidFill>
              <a:srgbClr val="ED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0849552-D776-CEB5-0833-1E937AE66F38}"/>
              </a:ext>
            </a:extLst>
          </p:cNvPr>
          <p:cNvSpPr/>
          <p:nvPr/>
        </p:nvSpPr>
        <p:spPr>
          <a:xfrm>
            <a:off x="321210" y="6997794"/>
            <a:ext cx="4144028" cy="2630465"/>
          </a:xfrm>
          <a:prstGeom prst="roundRect">
            <a:avLst/>
          </a:prstGeom>
          <a:solidFill>
            <a:srgbClr val="EDE8ED"/>
          </a:solidFill>
          <a:ln>
            <a:solidFill>
              <a:srgbClr val="ED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DD3AB9A-41F8-BC46-ED56-1F38DAF95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13" y="7049447"/>
            <a:ext cx="6000750" cy="2305050"/>
          </a:xfrm>
          <a:prstGeom prst="rect">
            <a:avLst/>
          </a:prstGeom>
        </p:spPr>
      </p:pic>
      <p:pic>
        <p:nvPicPr>
          <p:cNvPr id="9" name="Рисунок 8" descr="Изображение выглядит как цветок, растение, лепесток, Прострел раскрыт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87CDD37-9BC3-6EA7-4C4F-123A3001B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014" y="2106330"/>
            <a:ext cx="871342" cy="9334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A8A1AA-1470-398F-680F-7B831F6A4B28}"/>
              </a:ext>
            </a:extLst>
          </p:cNvPr>
          <p:cNvSpPr txBox="1"/>
          <p:nvPr/>
        </p:nvSpPr>
        <p:spPr>
          <a:xfrm>
            <a:off x="477786" y="7077204"/>
            <a:ext cx="3721101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>
                <a:solidFill>
                  <a:srgbClr val="323336"/>
                </a:solidFill>
                <a:ea typeface="+mn-lt"/>
                <a:cs typeface="+mn-lt"/>
              </a:rPr>
              <a:t>Реализованный на главной странице функционал поиска обеспечивает быстрый доступ к обширной базе данных проекта. Пользователь может начать взаимодействие с контентом сразу, без необходимости проходить сложную авторизацию или навигацию</a:t>
            </a:r>
            <a:endParaRPr lang="ru-RU"/>
          </a:p>
          <a:p>
            <a:endParaRPr lang="ru-RU" dirty="0">
              <a:solidFill>
                <a:srgbClr val="323336"/>
              </a:solidFill>
              <a:latin typeface="Aptos Narrow"/>
            </a:endParaRPr>
          </a:p>
          <a:p>
            <a:pPr algn="l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2312B2-F1F3-06FE-022F-4ABC813E3AB0}"/>
              </a:ext>
            </a:extLst>
          </p:cNvPr>
          <p:cNvSpPr txBox="1"/>
          <p:nvPr/>
        </p:nvSpPr>
        <p:spPr>
          <a:xfrm>
            <a:off x="6958024" y="9843369"/>
            <a:ext cx="3283350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sz="1600">
                <a:solidFill>
                  <a:srgbClr val="323336"/>
                </a:solidFill>
                <a:ea typeface="+mn-lt"/>
                <a:cs typeface="+mn-lt"/>
              </a:rPr>
              <a:t>Визуальное оформление поиска и блока популярных рецептов акцентирует внимание на простоте использования. Это способствует удержанию аудитории и создаёт комфортную среду для ежедневного поиска кулинарных решений</a:t>
            </a:r>
            <a:endParaRPr lang="ru-RU" sz="1600"/>
          </a:p>
          <a:p>
            <a:pPr algn="l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13626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28099-CAEB-B336-5FB5-4AB2D5023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5C006155-C58D-91A9-EF6B-CCD77E0D8222}"/>
              </a:ext>
            </a:extLst>
          </p:cNvPr>
          <p:cNvSpPr/>
          <p:nvPr/>
        </p:nvSpPr>
        <p:spPr>
          <a:xfrm>
            <a:off x="292273" y="292273"/>
            <a:ext cx="4144028" cy="2630465"/>
          </a:xfrm>
          <a:prstGeom prst="roundRect">
            <a:avLst/>
          </a:prstGeom>
          <a:solidFill>
            <a:srgbClr val="EDE8ED"/>
          </a:solidFill>
          <a:ln>
            <a:solidFill>
              <a:srgbClr val="ED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62DAE1-0D22-D87D-BF79-FFA382A07057}"/>
              </a:ext>
            </a:extLst>
          </p:cNvPr>
          <p:cNvSpPr txBox="1"/>
          <p:nvPr/>
        </p:nvSpPr>
        <p:spPr>
          <a:xfrm>
            <a:off x="448849" y="448582"/>
            <a:ext cx="3989242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>
                <a:solidFill>
                  <a:srgbClr val="323336"/>
                </a:solidFill>
                <a:latin typeface="Aptos Narrow"/>
              </a:rPr>
              <a:t>Cibo </a:t>
            </a:r>
            <a:r>
              <a:rPr lang="ru-RU">
                <a:solidFill>
                  <a:srgbClr val="323336"/>
                </a:solidFill>
                <a:latin typeface="Aptos Narrow"/>
                <a:ea typeface="+mn-lt"/>
                <a:cs typeface="+mn-lt"/>
              </a:rPr>
              <a:t>— это веб-сайт с рецептами, предназначенный для удобного поиска, публикации и общения пользователей, увлечённых кулинарией. Основная идея проекта — объединить людей, которые любят готовить, в одном удобном и функциональном пространстве.</a:t>
            </a:r>
            <a:endParaRPr lang="ru-RU">
              <a:solidFill>
                <a:srgbClr val="323336"/>
              </a:solidFill>
              <a:latin typeface="Aptos Narrow"/>
            </a:endParaRPr>
          </a:p>
          <a:p>
            <a:endParaRPr lang="ru-RU" dirty="0"/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D86D0C4B-E2AD-CA6A-DEED-2763FCD87C35}"/>
              </a:ext>
            </a:extLst>
          </p:cNvPr>
          <p:cNvSpPr/>
          <p:nvPr/>
        </p:nvSpPr>
        <p:spPr>
          <a:xfrm>
            <a:off x="6628356" y="3288082"/>
            <a:ext cx="4144028" cy="2630465"/>
          </a:xfrm>
          <a:prstGeom prst="roundRect">
            <a:avLst/>
          </a:prstGeom>
          <a:solidFill>
            <a:srgbClr val="EDE8ED"/>
          </a:solidFill>
          <a:ln>
            <a:solidFill>
              <a:srgbClr val="ED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87F35641-E1C0-534B-A592-E179CCB7C3BB}"/>
              </a:ext>
            </a:extLst>
          </p:cNvPr>
          <p:cNvSpPr/>
          <p:nvPr/>
        </p:nvSpPr>
        <p:spPr>
          <a:xfrm>
            <a:off x="292273" y="3872629"/>
            <a:ext cx="4144028" cy="2630465"/>
          </a:xfrm>
          <a:prstGeom prst="roundRect">
            <a:avLst/>
          </a:prstGeom>
          <a:solidFill>
            <a:srgbClr val="EDE8ED"/>
          </a:solidFill>
          <a:ln>
            <a:solidFill>
              <a:srgbClr val="ED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345A375-9599-562F-B7D1-A986BA083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5214" y="731599"/>
            <a:ext cx="6000750" cy="2305050"/>
          </a:xfrm>
          <a:prstGeom prst="rect">
            <a:avLst/>
          </a:prstGeom>
        </p:spPr>
      </p:pic>
      <p:pic>
        <p:nvPicPr>
          <p:cNvPr id="9" name="Рисунок 8" descr="Изображение выглядит как цветок, растение, лепесток, Прострел раскрыт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AD6F870-C170-23A2-1746-AE62EA2DE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014" y="2106330"/>
            <a:ext cx="871342" cy="9334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E8BDA3-0ED1-C82E-36F7-598E160EC09D}"/>
              </a:ext>
            </a:extLst>
          </p:cNvPr>
          <p:cNvSpPr txBox="1"/>
          <p:nvPr/>
        </p:nvSpPr>
        <p:spPr>
          <a:xfrm>
            <a:off x="448849" y="3952039"/>
            <a:ext cx="3721101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>
                <a:solidFill>
                  <a:srgbClr val="323336"/>
                </a:solidFill>
                <a:ea typeface="+mn-lt"/>
                <a:cs typeface="+mn-lt"/>
              </a:rPr>
              <a:t>Реализованный на главной странице функционал поиска обеспечивает быстрый доступ к обширной базе данных проекта. Пользователь может начать взаимодействие с контентом сразу, без необходимости проходить сложную авторизацию или навигацию</a:t>
            </a:r>
            <a:endParaRPr lang="ru-RU"/>
          </a:p>
          <a:p>
            <a:endParaRPr lang="ru-RU" dirty="0">
              <a:solidFill>
                <a:srgbClr val="323336"/>
              </a:solidFill>
              <a:latin typeface="Aptos Narrow"/>
            </a:endParaRPr>
          </a:p>
          <a:p>
            <a:pPr algn="l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94417A-FAA3-4929-8689-0F79932F84BC}"/>
              </a:ext>
            </a:extLst>
          </p:cNvPr>
          <p:cNvSpPr txBox="1"/>
          <p:nvPr/>
        </p:nvSpPr>
        <p:spPr>
          <a:xfrm>
            <a:off x="7064125" y="3525521"/>
            <a:ext cx="3283350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sz="1600">
                <a:solidFill>
                  <a:srgbClr val="323336"/>
                </a:solidFill>
                <a:ea typeface="+mn-lt"/>
                <a:cs typeface="+mn-lt"/>
              </a:rPr>
              <a:t>Визуальное оформление поиска и блока популярных рецептов акцентирует внимание на простоте использования. Это способствует удержанию аудитории и создаёт комфортную среду для ежедневного поиска кулинарных решений</a:t>
            </a:r>
            <a:endParaRPr lang="ru-RU" sz="1600"/>
          </a:p>
          <a:p>
            <a:pPr algn="l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51328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4AA8A-C70E-8156-0001-D836DAD85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CCB7D45A-3C61-6AA7-D65A-7B92F9D75044}"/>
              </a:ext>
            </a:extLst>
          </p:cNvPr>
          <p:cNvSpPr/>
          <p:nvPr/>
        </p:nvSpPr>
        <p:spPr>
          <a:xfrm>
            <a:off x="302711" y="1722328"/>
            <a:ext cx="4144028" cy="2630465"/>
          </a:xfrm>
          <a:prstGeom prst="roundRect">
            <a:avLst/>
          </a:prstGeom>
          <a:solidFill>
            <a:srgbClr val="EDE8ED"/>
          </a:solidFill>
          <a:ln>
            <a:solidFill>
              <a:srgbClr val="ED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ru-RU" dirty="0"/>
          </a:p>
        </p:txBody>
      </p:sp>
      <p:pic>
        <p:nvPicPr>
          <p:cNvPr id="9" name="Рисунок 8" descr="Изображение выглядит как цветок, растение, лепесток, Прострел раскрыт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EA38D6A-70A9-62E0-27F8-A74789C09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1384" y="3536385"/>
            <a:ext cx="871342" cy="933450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, Шрифт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1E9FDE5-3B70-2C74-E8B9-8AB8C19AA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2075" y="1133476"/>
            <a:ext cx="1847850" cy="4591050"/>
          </a:xfrm>
          <a:prstGeom prst="roundRect">
            <a:avLst/>
          </a:prstGeom>
        </p:spPr>
      </p:pic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11C54F14-C088-7B5C-C0CC-C8EB68BFA1F5}"/>
              </a:ext>
            </a:extLst>
          </p:cNvPr>
          <p:cNvSpPr/>
          <p:nvPr/>
        </p:nvSpPr>
        <p:spPr>
          <a:xfrm>
            <a:off x="7609560" y="1722328"/>
            <a:ext cx="4144028" cy="2630465"/>
          </a:xfrm>
          <a:prstGeom prst="roundRect">
            <a:avLst/>
          </a:prstGeom>
          <a:solidFill>
            <a:srgbClr val="EDE8ED"/>
          </a:solidFill>
          <a:ln>
            <a:solidFill>
              <a:srgbClr val="ED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379A02-CD12-E3EB-E3F1-E10BA372939F}"/>
              </a:ext>
            </a:extLst>
          </p:cNvPr>
          <p:cNvSpPr txBox="1"/>
          <p:nvPr/>
        </p:nvSpPr>
        <p:spPr>
          <a:xfrm>
            <a:off x="427974" y="1878904"/>
            <a:ext cx="4100184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>
                <a:solidFill>
                  <a:srgbClr val="323336"/>
                </a:solidFill>
                <a:ea typeface="+mn-lt"/>
                <a:cs typeface="+mn-lt"/>
              </a:rPr>
              <a:t>Навигация по категориям реализована в виде наглядных вкладок, обеспечивающих быстрый переход между разделами сайта. Это минимизирует количество действий пользователя и делает процесс изучения базы рецептов максимально комфортным</a:t>
            </a:r>
          </a:p>
          <a:p>
            <a:pPr algn="l"/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28145F-CFC8-F187-C409-EEC164C8DBC0}"/>
              </a:ext>
            </a:extLst>
          </p:cNvPr>
          <p:cNvSpPr txBox="1"/>
          <p:nvPr/>
        </p:nvSpPr>
        <p:spPr>
          <a:xfrm>
            <a:off x="8027095" y="2244246"/>
            <a:ext cx="330687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>
                <a:solidFill>
                  <a:srgbClr val="323336"/>
                </a:solidFill>
                <a:ea typeface="+mn-lt"/>
                <a:cs typeface="+mn-lt"/>
              </a:rPr>
              <a:t>Пользователю это помогает найти вдохновение и открыть для себя новые вкусовые сочетания в зависимости от настроения</a:t>
            </a:r>
            <a:endParaRPr lang="ru-RU"/>
          </a:p>
          <a:p>
            <a:pPr algn="l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97770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BE343-C499-45FC-A166-B25BBF4CC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6D8F738-B5A2-DE67-BD84-465832CF3F08}"/>
              </a:ext>
            </a:extLst>
          </p:cNvPr>
          <p:cNvSpPr/>
          <p:nvPr/>
        </p:nvSpPr>
        <p:spPr>
          <a:xfrm>
            <a:off x="253231" y="307185"/>
            <a:ext cx="7330573" cy="1858569"/>
          </a:xfrm>
          <a:prstGeom prst="roundRect">
            <a:avLst/>
          </a:prstGeom>
          <a:solidFill>
            <a:srgbClr val="EDE8ED"/>
          </a:solidFill>
          <a:ln>
            <a:solidFill>
              <a:srgbClr val="ED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ru-RU" dirty="0"/>
          </a:p>
        </p:txBody>
      </p:sp>
      <p:pic>
        <p:nvPicPr>
          <p:cNvPr id="9" name="Рисунок 8" descr="Изображение выглядит как цветок, растение, лепесток, Прострел раскрыт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850307B-4951-EDAF-228F-CB8BDA9C5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890" y="1468100"/>
            <a:ext cx="871342" cy="9334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662CA0-7995-CDCD-66D9-87F1BED430DA}"/>
              </a:ext>
            </a:extLst>
          </p:cNvPr>
          <p:cNvSpPr txBox="1"/>
          <p:nvPr/>
        </p:nvSpPr>
        <p:spPr>
          <a:xfrm>
            <a:off x="378494" y="463761"/>
            <a:ext cx="7098703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/>
              <a:t>Личный кабинет позволяет хранить и структурировать все добавленные рецепты. Пользователь может в любой момент дополнить свою коллекцию, развивая проект и делясь вдохновением с другими участниками </a:t>
            </a:r>
            <a:endParaRPr lang="ru-RU" dirty="0"/>
          </a:p>
        </p:txBody>
      </p:sp>
      <p:pic>
        <p:nvPicPr>
          <p:cNvPr id="2" name="Рисунок 1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F88FA6B-AB10-EB6C-627D-50FEE75E8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56" y="2410072"/>
            <a:ext cx="10611593" cy="435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2014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6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179</cp:revision>
  <dcterms:created xsi:type="dcterms:W3CDTF">2026-04-26T14:04:25Z</dcterms:created>
  <dcterms:modified xsi:type="dcterms:W3CDTF">2026-05-02T15:06:58Z</dcterms:modified>
</cp:coreProperties>
</file>