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7" r:id="rId11"/>
    <p:sldId id="268" r:id="rId12"/>
    <p:sldId id="266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336"/>
    <a:srgbClr val="EDE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5FD6F-2048-4F86-A2EA-2A3478BF09FB}" v="427" dt="2026-05-09T16:50:09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41D4B7-8A53-4C37-8E33-372EAB5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434" y="253548"/>
            <a:ext cx="5608934" cy="6102802"/>
          </a:xfrm>
          <a:prstGeom prst="rect">
            <a:avLst/>
          </a:prstGeom>
          <a:solidFill>
            <a:srgbClr val="AFABA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BA23E-C5F4-80C7-ACCA-A78C0B696C28}"/>
              </a:ext>
            </a:extLst>
          </p:cNvPr>
          <p:cNvSpPr txBox="1"/>
          <p:nvPr/>
        </p:nvSpPr>
        <p:spPr>
          <a:xfrm>
            <a:off x="6614220" y="738321"/>
            <a:ext cx="5069305" cy="7445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Bookman Old Style"/>
                <a:ea typeface="+mj-ea"/>
                <a:cs typeface="+mj-cs"/>
              </a:rPr>
              <a:t>CIBO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30B15B-CFE8-4FE5-8F6E-666207C94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024" y="253548"/>
            <a:ext cx="5851795" cy="6102802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51AAA3-DDFE-48DE-AF38-BE32846E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848" y="420017"/>
            <a:ext cx="5532146" cy="5769864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4" name="Рисунок 3" descr="Изображение выглядит как лепесток, растение, Цветоножка, цвет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D009E1-52FC-4216-6F22-62F6C7BD0E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0" r="-4" b="-4"/>
          <a:stretch>
            <a:fillRect/>
          </a:stretch>
        </p:blipFill>
        <p:spPr>
          <a:xfrm>
            <a:off x="725707" y="740057"/>
            <a:ext cx="4886429" cy="5129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C3D3E4-1468-D7FC-7BE9-723E5723BEC4}"/>
              </a:ext>
            </a:extLst>
          </p:cNvPr>
          <p:cNvSpPr txBox="1"/>
          <p:nvPr/>
        </p:nvSpPr>
        <p:spPr>
          <a:xfrm>
            <a:off x="6706978" y="1366087"/>
            <a:ext cx="427684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b="1"/>
              <a:t>Проект WebServer + API</a:t>
            </a:r>
            <a:endParaRPr lang="ru-RU" sz="1400"/>
          </a:p>
          <a:p>
            <a:br>
              <a:rPr lang="en-US" dirty="0"/>
            </a:br>
            <a:endParaRPr lang="en-US" dirty="0"/>
          </a:p>
          <a:p>
            <a:pPr algn="l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9718B-B2E3-4F81-8760-AB2A21A33A8C}"/>
              </a:ext>
            </a:extLst>
          </p:cNvPr>
          <p:cNvSpPr txBox="1"/>
          <p:nvPr/>
        </p:nvSpPr>
        <p:spPr>
          <a:xfrm>
            <a:off x="6345131" y="5997201"/>
            <a:ext cx="560793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latin typeface="Aptos Display"/>
              </a:rPr>
              <a:t>авторы проекта: Дарья Уразова, </a:t>
            </a:r>
            <a:r>
              <a:rPr lang="ru-RU" sz="1600" dirty="0">
                <a:latin typeface="Aptos Display"/>
              </a:rPr>
              <a:t>Алина Бобровская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53FF-A29D-211D-5157-F79B6420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F7FF3E6-DD2D-06CC-EF86-65439B36A7FF}"/>
              </a:ext>
            </a:extLst>
          </p:cNvPr>
          <p:cNvSpPr/>
          <p:nvPr/>
        </p:nvSpPr>
        <p:spPr>
          <a:xfrm>
            <a:off x="292273" y="292273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FA2069-620D-213D-45D9-0586EA06E9C4}"/>
              </a:ext>
            </a:extLst>
          </p:cNvPr>
          <p:cNvSpPr txBox="1"/>
          <p:nvPr/>
        </p:nvSpPr>
        <p:spPr>
          <a:xfrm>
            <a:off x="448849" y="448582"/>
            <a:ext cx="398924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  <a:latin typeface="Aptos Narrow"/>
              </a:rPr>
              <a:t>Cibo </a:t>
            </a:r>
            <a:r>
              <a:rPr lang="ru-RU">
                <a:solidFill>
                  <a:srgbClr val="323336"/>
                </a:solidFill>
                <a:latin typeface="Aptos Narrow"/>
                <a:ea typeface="+mn-lt"/>
                <a:cs typeface="+mn-lt"/>
              </a:rPr>
              <a:t>— это веб-сайт с рецептами, предназначенный для удобного поиска, публикации и общения пользователей, увлечённых кулинарией. Основная идея проекта — объединить людей, которые любят готовить, в одном удобном и функциональном пространстве.</a:t>
            </a:r>
            <a:endParaRPr lang="ru-RU">
              <a:solidFill>
                <a:srgbClr val="323336"/>
              </a:solidFill>
              <a:latin typeface="Aptos Narrow"/>
            </a:endParaRPr>
          </a:p>
          <a:p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AE7FAD9-6B3D-A765-1ED6-3B5B68726522}"/>
              </a:ext>
            </a:extLst>
          </p:cNvPr>
          <p:cNvSpPr/>
          <p:nvPr/>
        </p:nvSpPr>
        <p:spPr>
          <a:xfrm>
            <a:off x="6522255" y="9605930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0849552-D776-CEB5-0833-1E937AE66F38}"/>
              </a:ext>
            </a:extLst>
          </p:cNvPr>
          <p:cNvSpPr/>
          <p:nvPr/>
        </p:nvSpPr>
        <p:spPr>
          <a:xfrm>
            <a:off x="321210" y="6997794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D3AB9A-41F8-BC46-ED56-1F38DAF95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13" y="7049447"/>
            <a:ext cx="6000750" cy="2305050"/>
          </a:xfrm>
          <a:prstGeom prst="rect">
            <a:avLst/>
          </a:prstGeom>
        </p:spPr>
      </p:pic>
      <p:pic>
        <p:nvPicPr>
          <p:cNvPr id="9" name="Рисунок 8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7CDD37-9BC3-6EA7-4C4F-123A3001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014" y="2106330"/>
            <a:ext cx="871342" cy="933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A8A1AA-1470-398F-680F-7B831F6A4B28}"/>
              </a:ext>
            </a:extLst>
          </p:cNvPr>
          <p:cNvSpPr txBox="1"/>
          <p:nvPr/>
        </p:nvSpPr>
        <p:spPr>
          <a:xfrm>
            <a:off x="477786" y="7077204"/>
            <a:ext cx="372110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Реализованный на главной странице функционал поиска обеспечивает быстрый доступ к обширной базе данных проекта. Пользователь может начать взаимодействие с контентом сразу, без необходимости проходить сложную авторизацию или навигацию</a:t>
            </a:r>
            <a:endParaRPr lang="ru-RU"/>
          </a:p>
          <a:p>
            <a:endParaRPr lang="ru-RU" dirty="0">
              <a:solidFill>
                <a:srgbClr val="323336"/>
              </a:solidFill>
              <a:latin typeface="Aptos Narrow"/>
            </a:endParaRPr>
          </a:p>
          <a:p>
            <a:pPr algn="l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312B2-F1F3-06FE-022F-4ABC813E3AB0}"/>
              </a:ext>
            </a:extLst>
          </p:cNvPr>
          <p:cNvSpPr txBox="1"/>
          <p:nvPr/>
        </p:nvSpPr>
        <p:spPr>
          <a:xfrm>
            <a:off x="6958024" y="9843369"/>
            <a:ext cx="328335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Визуальное оформление поиска и блока популярных рецептов акцентирует внимание на простоте использования. Это способствует удержанию аудитории и создаёт комфортную среду для ежедневного поиска кулинарных решений</a:t>
            </a:r>
            <a:endParaRPr lang="ru-RU" sz="160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362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8099-CAEB-B336-5FB5-4AB2D502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C006155-C58D-91A9-EF6B-CCD77E0D8222}"/>
              </a:ext>
            </a:extLst>
          </p:cNvPr>
          <p:cNvSpPr/>
          <p:nvPr/>
        </p:nvSpPr>
        <p:spPr>
          <a:xfrm>
            <a:off x="292273" y="292273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2DAE1-0D22-D87D-BF79-FFA382A07057}"/>
              </a:ext>
            </a:extLst>
          </p:cNvPr>
          <p:cNvSpPr txBox="1"/>
          <p:nvPr/>
        </p:nvSpPr>
        <p:spPr>
          <a:xfrm>
            <a:off x="448849" y="448582"/>
            <a:ext cx="398924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  <a:latin typeface="Aptos Narrow"/>
              </a:rPr>
              <a:t>Cibo </a:t>
            </a:r>
            <a:r>
              <a:rPr lang="ru-RU">
                <a:solidFill>
                  <a:srgbClr val="323336"/>
                </a:solidFill>
                <a:latin typeface="Aptos Narrow"/>
                <a:ea typeface="+mn-lt"/>
                <a:cs typeface="+mn-lt"/>
              </a:rPr>
              <a:t>— это веб-сайт с рецептами, предназначенный для удобного поиска, публикации и общения пользователей, увлечённых кулинарией. Основная идея проекта — объединить людей, которые любят готовить, в одном удобном и функциональном пространстве.</a:t>
            </a:r>
            <a:endParaRPr lang="ru-RU">
              <a:solidFill>
                <a:srgbClr val="323336"/>
              </a:solidFill>
              <a:latin typeface="Aptos Narrow"/>
            </a:endParaRPr>
          </a:p>
          <a:p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86D0C4B-E2AD-CA6A-DEED-2763FCD87C35}"/>
              </a:ext>
            </a:extLst>
          </p:cNvPr>
          <p:cNvSpPr/>
          <p:nvPr/>
        </p:nvSpPr>
        <p:spPr>
          <a:xfrm>
            <a:off x="6628356" y="3288082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7F35641-E1C0-534B-A592-E179CCB7C3BB}"/>
              </a:ext>
            </a:extLst>
          </p:cNvPr>
          <p:cNvSpPr/>
          <p:nvPr/>
        </p:nvSpPr>
        <p:spPr>
          <a:xfrm>
            <a:off x="292273" y="3872629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45A375-9599-562F-B7D1-A986BA08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214" y="731599"/>
            <a:ext cx="6000750" cy="2305050"/>
          </a:xfrm>
          <a:prstGeom prst="rect">
            <a:avLst/>
          </a:prstGeom>
        </p:spPr>
      </p:pic>
      <p:pic>
        <p:nvPicPr>
          <p:cNvPr id="9" name="Рисунок 8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AD6F870-C170-23A2-1746-AE62EA2DE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014" y="2106330"/>
            <a:ext cx="871342" cy="933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E8BDA3-0ED1-C82E-36F7-598E160EC09D}"/>
              </a:ext>
            </a:extLst>
          </p:cNvPr>
          <p:cNvSpPr txBox="1"/>
          <p:nvPr/>
        </p:nvSpPr>
        <p:spPr>
          <a:xfrm>
            <a:off x="448849" y="3952039"/>
            <a:ext cx="372110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Реализованный на главной странице функционал поиска обеспечивает быстрый доступ к обширной базе данных проекта. Пользователь может начать взаимодействие с контентом сразу, без необходимости проходить сложную авторизацию или навигацию</a:t>
            </a:r>
            <a:endParaRPr lang="ru-RU"/>
          </a:p>
          <a:p>
            <a:endParaRPr lang="ru-RU" dirty="0">
              <a:solidFill>
                <a:srgbClr val="323336"/>
              </a:solidFill>
              <a:latin typeface="Aptos Narrow"/>
            </a:endParaRPr>
          </a:p>
          <a:p>
            <a:pPr algn="l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4417A-FAA3-4929-8689-0F79932F84BC}"/>
              </a:ext>
            </a:extLst>
          </p:cNvPr>
          <p:cNvSpPr txBox="1"/>
          <p:nvPr/>
        </p:nvSpPr>
        <p:spPr>
          <a:xfrm>
            <a:off x="7064125" y="3525521"/>
            <a:ext cx="328335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Визуальное оформление поиска и блока популярных рецептов акцентирует внимание на простоте использования. Это способствует удержанию аудитории и создаёт комфортную среду для ежедневного поиска кулинарных решений</a:t>
            </a:r>
            <a:endParaRPr lang="ru-RU" sz="160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5132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AA8A-C70E-8156-0001-D836DAD8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CB7D45A-3C61-6AA7-D65A-7B92F9D75044}"/>
              </a:ext>
            </a:extLst>
          </p:cNvPr>
          <p:cNvSpPr/>
          <p:nvPr/>
        </p:nvSpPr>
        <p:spPr>
          <a:xfrm>
            <a:off x="302711" y="1722328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A38D6A-70A9-62E0-27F8-A74789C0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384" y="3536385"/>
            <a:ext cx="871342" cy="93345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E9FDE5-3B70-2C74-E8B9-8AB8C19AA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75" y="1133476"/>
            <a:ext cx="1847850" cy="4591050"/>
          </a:xfrm>
          <a:prstGeom prst="round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1C54F14-C088-7B5C-C0CC-C8EB68BFA1F5}"/>
              </a:ext>
            </a:extLst>
          </p:cNvPr>
          <p:cNvSpPr/>
          <p:nvPr/>
        </p:nvSpPr>
        <p:spPr>
          <a:xfrm>
            <a:off x="7609560" y="1722328"/>
            <a:ext cx="4144028" cy="2630465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379A02-CD12-E3EB-E3F1-E10BA372939F}"/>
              </a:ext>
            </a:extLst>
          </p:cNvPr>
          <p:cNvSpPr txBox="1"/>
          <p:nvPr/>
        </p:nvSpPr>
        <p:spPr>
          <a:xfrm>
            <a:off x="427974" y="1878904"/>
            <a:ext cx="410018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Навигация по категориям реализована в виде наглядных вкладок, обеспечивающих быстрый переход между разделами сайта. Это минимизирует количество действий пользователя и делает процесс изучения базы рецептов максимально комфортным</a:t>
            </a:r>
          </a:p>
          <a:p>
            <a:pPr algn="l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8145F-CFC8-F187-C409-EEC164C8DBC0}"/>
              </a:ext>
            </a:extLst>
          </p:cNvPr>
          <p:cNvSpPr txBox="1"/>
          <p:nvPr/>
        </p:nvSpPr>
        <p:spPr>
          <a:xfrm>
            <a:off x="8027095" y="2244246"/>
            <a:ext cx="330687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Пользователю это помогает найти вдохновение и открыть для себя новые вкусовые сочетания в зависимости от настроения</a:t>
            </a:r>
            <a:endParaRPr lang="ru-RU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977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E343-C499-45FC-A166-B25BBF4C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выпечка, десерт, Легкая закус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0A0083-A125-4742-C9BE-EE93B364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482" y="-4875232"/>
            <a:ext cx="6534150" cy="4667250"/>
          </a:xfrm>
          <a:prstGeom prst="rect">
            <a:avLst/>
          </a:prstGeom>
        </p:spPr>
      </p:pic>
      <p:pic>
        <p:nvPicPr>
          <p:cNvPr id="2" name="Рисунок 1" descr="Изображение выглядит как текст, Легкая закуска, десерт, выпе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F60FC3-D9F1-62DE-6A54-A22B3ADD2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69" y="2168204"/>
            <a:ext cx="7792898" cy="4566454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6D8F738-B5A2-DE67-BD84-465832CF3F08}"/>
              </a:ext>
            </a:extLst>
          </p:cNvPr>
          <p:cNvSpPr/>
          <p:nvPr/>
        </p:nvSpPr>
        <p:spPr>
          <a:xfrm>
            <a:off x="253231" y="307185"/>
            <a:ext cx="7330573" cy="1858569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50307B-4951-EDAF-228F-CB8BDA9C5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890" y="1468100"/>
            <a:ext cx="871342" cy="933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662CA0-7995-CDCD-66D9-87F1BED430DA}"/>
              </a:ext>
            </a:extLst>
          </p:cNvPr>
          <p:cNvSpPr txBox="1"/>
          <p:nvPr/>
        </p:nvSpPr>
        <p:spPr>
          <a:xfrm>
            <a:off x="378494" y="463761"/>
            <a:ext cx="709870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</a:rPr>
              <a:t>Личный кабинет позволяет хранить и структурировать все добавленные рецепты. Пользователь может в любой момент дополнить свою коллекцию, развивая проект и делясь вдохновением с другими участниками </a:t>
            </a:r>
            <a:endParaRPr lang="ru-RU" dirty="0">
              <a:solidFill>
                <a:srgbClr val="3233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201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B9B8-7E1C-C07D-6ADF-B4159DF5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выпечка, десерт, Легкая закус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5DF90A-48BF-103B-BCF1-1403F3DC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5" y="2117806"/>
            <a:ext cx="6534150" cy="4667250"/>
          </a:xfrm>
          <a:prstGeom prst="rect">
            <a:avLst/>
          </a:prstGeom>
        </p:spPr>
      </p:pic>
      <p:pic>
        <p:nvPicPr>
          <p:cNvPr id="2" name="Рисунок 1" descr="Изображение выглядит как текст, Легкая закуска, десерт, выпе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93AF93-2472-F3FA-987C-10AB71CE9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62" y="9286634"/>
            <a:ext cx="7792898" cy="4566454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78135D0-BA21-4ED9-E41F-A7C3117A1DAE}"/>
              </a:ext>
            </a:extLst>
          </p:cNvPr>
          <p:cNvSpPr/>
          <p:nvPr/>
        </p:nvSpPr>
        <p:spPr>
          <a:xfrm>
            <a:off x="253231" y="307185"/>
            <a:ext cx="6038067" cy="1810342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AC3BC89-F54B-1953-2668-EA6A41428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384" y="1487391"/>
            <a:ext cx="871342" cy="933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528A3-9A01-4C0B-C2D6-5EF96391F0C3}"/>
              </a:ext>
            </a:extLst>
          </p:cNvPr>
          <p:cNvSpPr txBox="1"/>
          <p:nvPr/>
        </p:nvSpPr>
        <p:spPr>
          <a:xfrm>
            <a:off x="378494" y="463761"/>
            <a:ext cx="5574704" cy="147732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</a:rPr>
              <a:t>Если пользователь ещё не определился с выбором блюда, он может перейти на главную страницу. Там реализована подборка популярных и новых рецептов для быстрого поиска идей и кулинарного вдохновения </a:t>
            </a:r>
            <a:endParaRPr lang="ru-RU" dirty="0">
              <a:solidFill>
                <a:srgbClr val="323336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6C18225-FC5E-1E53-142F-C6B8373BE06B}"/>
              </a:ext>
            </a:extLst>
          </p:cNvPr>
          <p:cNvSpPr/>
          <p:nvPr/>
        </p:nvSpPr>
        <p:spPr>
          <a:xfrm>
            <a:off x="-4656365" y="2679995"/>
            <a:ext cx="4215055" cy="1810342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2E8F6-A420-2EC7-51E1-25110B7B6090}"/>
              </a:ext>
            </a:extLst>
          </p:cNvPr>
          <p:cNvSpPr txBox="1"/>
          <p:nvPr/>
        </p:nvSpPr>
        <p:spPr>
          <a:xfrm>
            <a:off x="-4592217" y="2678958"/>
            <a:ext cx="408393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Кнопка "Посмотреть рецепт" открывает доступ к инструкции и полной информации о рецепте. Дополнительно предусмотрена функция подписки на автора, что позволяет формировать персонализированную ленту и следить за обновлениями</a:t>
            </a:r>
          </a:p>
        </p:txBody>
      </p:sp>
    </p:spTree>
    <p:extLst>
      <p:ext uri="{BB962C8B-B14F-4D97-AF65-F5344CB8AC3E}">
        <p14:creationId xmlns:p14="http://schemas.microsoft.com/office/powerpoint/2010/main" val="1279068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750E-D3FE-D8D7-225C-52371123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выпечка, десерт, Легкая закус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95B6E4-86F9-B5C3-A2AC-9A4ADCB58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5" y="2117806"/>
            <a:ext cx="6534150" cy="4667250"/>
          </a:xfrm>
          <a:prstGeom prst="rect">
            <a:avLst/>
          </a:prstGeom>
        </p:spPr>
      </p:pic>
      <p:pic>
        <p:nvPicPr>
          <p:cNvPr id="2" name="Рисунок 1" descr="Изображение выглядит как текст, Легкая закуска, десерт, выпе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7CAEC3-1512-03EE-E448-5B39C01C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62" y="9286634"/>
            <a:ext cx="7792898" cy="4566454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8361B42-961C-7AAD-87A4-F061324B554B}"/>
              </a:ext>
            </a:extLst>
          </p:cNvPr>
          <p:cNvSpPr/>
          <p:nvPr/>
        </p:nvSpPr>
        <p:spPr>
          <a:xfrm>
            <a:off x="253231" y="307185"/>
            <a:ext cx="6038067" cy="1810342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43CF8A-517A-0DCB-299F-8B431941D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384" y="1487391"/>
            <a:ext cx="871342" cy="933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17A6F1-D193-EED0-9838-D6D237483527}"/>
              </a:ext>
            </a:extLst>
          </p:cNvPr>
          <p:cNvSpPr txBox="1"/>
          <p:nvPr/>
        </p:nvSpPr>
        <p:spPr>
          <a:xfrm>
            <a:off x="378494" y="463761"/>
            <a:ext cx="5574704" cy="147732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</a:rPr>
              <a:t>Если пользователь ещё не определился с выбором блюда, он может перейти на главную страницу. Там реализована подборка популярных и новых рецептов для быстрого поиска идей и кулинарного вдохновения </a:t>
            </a:r>
            <a:endParaRPr lang="ru-RU" dirty="0">
              <a:solidFill>
                <a:srgbClr val="323336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574343E-74FF-461E-B9DE-759719F5E5AA}"/>
              </a:ext>
            </a:extLst>
          </p:cNvPr>
          <p:cNvSpPr/>
          <p:nvPr/>
        </p:nvSpPr>
        <p:spPr>
          <a:xfrm>
            <a:off x="253230" y="2631767"/>
            <a:ext cx="4215055" cy="1810342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DFA89-9F5A-2ACD-AA96-A19A4B364270}"/>
              </a:ext>
            </a:extLst>
          </p:cNvPr>
          <p:cNvSpPr txBox="1"/>
          <p:nvPr/>
        </p:nvSpPr>
        <p:spPr>
          <a:xfrm>
            <a:off x="317378" y="2630730"/>
            <a:ext cx="408393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Кнопка "Посмотреть рецепт" открывает доступ к инструкции и полной информации о рецепте. Дополнительно предусмотрена функция подписки на автора, что позволяет формировать персонализированную ленту и следить за обновлениями</a:t>
            </a:r>
          </a:p>
        </p:txBody>
      </p:sp>
    </p:spTree>
    <p:extLst>
      <p:ext uri="{BB962C8B-B14F-4D97-AF65-F5344CB8AC3E}">
        <p14:creationId xmlns:p14="http://schemas.microsoft.com/office/powerpoint/2010/main" val="3692258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Легкая закуска, меню, е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673457-3794-B97D-65F4-BB900049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1" y="0"/>
            <a:ext cx="7993811" cy="685800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4C622E-D274-F026-6AC3-E53CE7CCD255}"/>
              </a:ext>
            </a:extLst>
          </p:cNvPr>
          <p:cNvSpPr/>
          <p:nvPr/>
        </p:nvSpPr>
        <p:spPr>
          <a:xfrm>
            <a:off x="8144629" y="77542"/>
            <a:ext cx="3898204" cy="3344780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DE371-9067-9D11-E086-DF2754D9A94F}"/>
              </a:ext>
            </a:extLst>
          </p:cNvPr>
          <p:cNvSpPr txBox="1"/>
          <p:nvPr/>
        </p:nvSpPr>
        <p:spPr>
          <a:xfrm>
            <a:off x="8361122" y="386218"/>
            <a:ext cx="346344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Интерфейс карточки отображает все ключевые параметры рецепта для упрощения выбора. Наличие метрики лайков позволяет пользователю мгновенно оценить востребованность рецепта и актуальность предложенных кулинарных решений</a:t>
            </a:r>
            <a:endParaRPr lang="ru-RU"/>
          </a:p>
          <a:p>
            <a:pPr algn="l"/>
            <a:endParaRPr lang="ru-RU" dirty="0">
              <a:solidFill>
                <a:srgbClr val="323336"/>
              </a:solidFill>
              <a:ea typeface="+mn-lt"/>
              <a:cs typeface="+mn-lt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05FD83-2649-F8C9-3D2D-3563F2355BC3}"/>
              </a:ext>
            </a:extLst>
          </p:cNvPr>
          <p:cNvSpPr/>
          <p:nvPr/>
        </p:nvSpPr>
        <p:spPr>
          <a:xfrm>
            <a:off x="8144628" y="7248691"/>
            <a:ext cx="3898204" cy="3240397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70D9D-9273-DCBB-B891-435B03EF996B}"/>
              </a:ext>
            </a:extLst>
          </p:cNvPr>
          <p:cNvSpPr txBox="1"/>
          <p:nvPr/>
        </p:nvSpPr>
        <p:spPr>
          <a:xfrm>
            <a:off x="8141918" y="7438476"/>
            <a:ext cx="390185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В нижней части страницы реализован блок комментариев. Это пространство для коммуникации пользователей, где они могут не только обсудить рецепт, но и поделиться практическими советами по приготовлению, адаптации ингредиентов или секретами личного кулинарного опыта</a:t>
            </a:r>
            <a:endParaRPr lang="ru-RU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64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6317-965A-2F52-6ED3-55E0E7B5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840F3D7-A8CA-02BF-34AC-A9B5E6613569}"/>
              </a:ext>
            </a:extLst>
          </p:cNvPr>
          <p:cNvSpPr/>
          <p:nvPr/>
        </p:nvSpPr>
        <p:spPr>
          <a:xfrm>
            <a:off x="8144629" y="77542"/>
            <a:ext cx="3898204" cy="3344780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279D9-4508-48CD-A33B-DE72C7253611}"/>
              </a:ext>
            </a:extLst>
          </p:cNvPr>
          <p:cNvSpPr txBox="1"/>
          <p:nvPr/>
        </p:nvSpPr>
        <p:spPr>
          <a:xfrm>
            <a:off x="8361122" y="386218"/>
            <a:ext cx="346344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Интерфейс карточки отображает все ключевые параметры рецепта для упрощения выбора. Наличие метрики лайков позволяет пользователю мгновенно оценить востребованность рецепта и актуальность предложенных кулинарных решений</a:t>
            </a:r>
            <a:endParaRPr lang="ru-RU"/>
          </a:p>
          <a:p>
            <a:pPr algn="l"/>
            <a:endParaRPr lang="ru-RU" dirty="0">
              <a:solidFill>
                <a:srgbClr val="323336"/>
              </a:solidFill>
              <a:ea typeface="+mn-lt"/>
              <a:cs typeface="+mn-lt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654143E-344C-C842-C299-4C8FE53BC9BF}"/>
              </a:ext>
            </a:extLst>
          </p:cNvPr>
          <p:cNvSpPr/>
          <p:nvPr/>
        </p:nvSpPr>
        <p:spPr>
          <a:xfrm>
            <a:off x="8144628" y="3532636"/>
            <a:ext cx="3898204" cy="3240397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EE245-935D-4B72-A76C-F3A8DC11758F}"/>
              </a:ext>
            </a:extLst>
          </p:cNvPr>
          <p:cNvSpPr txBox="1"/>
          <p:nvPr/>
        </p:nvSpPr>
        <p:spPr>
          <a:xfrm>
            <a:off x="8141918" y="3722421"/>
            <a:ext cx="390185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В нижней части страницы реализован блок комментариев. Это пространство для коммуникации пользователей, где они могут не только обсудить рецепт, но и поделиться практическими советами по приготовлению, адаптации ингредиентов или секретами личного кулинарного опыта</a:t>
            </a:r>
            <a:endParaRPr lang="ru-RU"/>
          </a:p>
          <a:p>
            <a:pPr algn="l"/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CCACDE-1F0E-5CF9-A63A-9648AF5E6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307" b="-212"/>
          <a:stretch>
            <a:fillRect/>
          </a:stretch>
        </p:blipFill>
        <p:spPr>
          <a:xfrm>
            <a:off x="127087" y="272573"/>
            <a:ext cx="7885758" cy="650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21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2A37-9AB7-D037-F9D4-86DAA3E8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8BBC5EE-B275-F4D8-DFFE-5641244C9FBA}"/>
              </a:ext>
            </a:extLst>
          </p:cNvPr>
          <p:cNvSpPr/>
          <p:nvPr/>
        </p:nvSpPr>
        <p:spPr>
          <a:xfrm>
            <a:off x="4146603" y="216088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F1AD1-6303-AD4F-C2AC-B4BE630C3365}"/>
              </a:ext>
            </a:extLst>
          </p:cNvPr>
          <p:cNvSpPr txBox="1"/>
          <p:nvPr/>
        </p:nvSpPr>
        <p:spPr>
          <a:xfrm>
            <a:off x="4146467" y="332110"/>
            <a:ext cx="3901043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Основная логика приложения реализована в файле main.py, где находятся маршруты Flask, обработка запросов и взаимодействие с базой данных.</a:t>
            </a:r>
            <a:endParaRPr lang="ru-RU"/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Для работы с данными используется отдельный пакет data, содержащий классы моделей: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User — хранение информации о пользователях, авторизация и работа с паролями;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Recipe — хранение рецептов, ингредиентов, изображений и характеристик блюда;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Comment — система комментариев и ответов;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Like — обработка лайков;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Subscription — подписки между пользователями;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Message — личные сообщения и чат;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View — учёт просмотров рецептов;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db_session — настройка подключения к базе данных и создание сессий SQLAlchemy.</a:t>
            </a:r>
          </a:p>
          <a:p>
            <a:pPr algn="l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A42817D-6FB4-6ED7-D6A0-658262567F32}"/>
              </a:ext>
            </a:extLst>
          </p:cNvPr>
          <p:cNvSpPr/>
          <p:nvPr/>
        </p:nvSpPr>
        <p:spPr>
          <a:xfrm>
            <a:off x="-4106748" y="176504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C358A73-1F3A-3E7E-BD3C-0CD203BA1C70}"/>
              </a:ext>
            </a:extLst>
          </p:cNvPr>
          <p:cNvSpPr/>
          <p:nvPr/>
        </p:nvSpPr>
        <p:spPr>
          <a:xfrm>
            <a:off x="12340577" y="136918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12F87-2E11-1072-D6E0-7B36F0B6B2AE}"/>
              </a:ext>
            </a:extLst>
          </p:cNvPr>
          <p:cNvSpPr txBox="1"/>
          <p:nvPr/>
        </p:nvSpPr>
        <p:spPr>
          <a:xfrm>
            <a:off x="-4106884" y="172593"/>
            <a:ext cx="3901043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При разработке проекта использовались следующие технологии: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Python — основной язык разработки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Flask — создание веб-приложения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маршрутизации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SQLAlchemy — работа с базой данных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через ORM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SQLite — хранение данных приложения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Flask-Login — система регистрации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авторизации пользователей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Pillow — обработка и оптимизация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изображений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HTML, CSS и Jinja2 — создание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пользовательского интерфейса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l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E9791-ECDB-523B-5C70-13A055339590}"/>
              </a:ext>
            </a:extLst>
          </p:cNvPr>
          <p:cNvSpPr txBox="1"/>
          <p:nvPr/>
        </p:nvSpPr>
        <p:spPr>
          <a:xfrm>
            <a:off x="12340440" y="144085"/>
            <a:ext cx="3901043" cy="6771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 особенностям проекта можно отнести:</a:t>
            </a:r>
            <a:endParaRPr lang="ru-RU"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регистрацию и авторизацию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пользователей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создание, редактирование и удаление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рецептов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загрузку изображений блюд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систему лайков, просмотров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комментариев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подписки на других пользователей</a:t>
            </a:r>
            <a:endParaRPr lang="ru-RU"/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встроенный чат между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пользователями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поиск рецептов и пользователей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фильтрацию рецептов по категориям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параметрам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адаптивную структуру интерфейса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разделение логики по модулям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9528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3BDEB-007B-ABB8-DD05-D9486AD4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652BD49-9AAC-FFA8-7B68-D7A5114BAC69}"/>
              </a:ext>
            </a:extLst>
          </p:cNvPr>
          <p:cNvSpPr/>
          <p:nvPr/>
        </p:nvSpPr>
        <p:spPr>
          <a:xfrm>
            <a:off x="4146603" y="216088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56C01-AC43-EEFA-6269-523E4C342A6A}"/>
              </a:ext>
            </a:extLst>
          </p:cNvPr>
          <p:cNvSpPr txBox="1"/>
          <p:nvPr/>
        </p:nvSpPr>
        <p:spPr>
          <a:xfrm>
            <a:off x="4146467" y="332110"/>
            <a:ext cx="3901043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Основная логика приложения реализована в файле main.py, где находятся маршруты Flask, обработка запросов и взаимодействие с базой данных.</a:t>
            </a:r>
            <a:endParaRPr lang="ru-RU"/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Для работы с данными используется отдельный пакет data, содержащий классы моделей: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User — хранение информации о пользователях, авторизация и работа с паролями;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Recipe — хранение рецептов, ингредиентов, изображений и характеристик блюда;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Comment — система комментариев и ответов;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Like — обработка лайков;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Subscription — подписки между пользователями;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Message — личные сообщения и чат;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View — учёт просмотров рецептов;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db_session — настройка подключения к базе данных и создание сессий SQLAlchemy.</a:t>
            </a:r>
          </a:p>
          <a:p>
            <a:pPr algn="l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3A5B26-F93A-742F-6D1D-AFCA50E0A993}"/>
              </a:ext>
            </a:extLst>
          </p:cNvPr>
          <p:cNvSpPr/>
          <p:nvPr/>
        </p:nvSpPr>
        <p:spPr>
          <a:xfrm>
            <a:off x="-4106748" y="176504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9B13B2E-6BAF-36FB-561F-8BD419A73C1E}"/>
              </a:ext>
            </a:extLst>
          </p:cNvPr>
          <p:cNvSpPr/>
          <p:nvPr/>
        </p:nvSpPr>
        <p:spPr>
          <a:xfrm>
            <a:off x="8184213" y="216087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9BE99F-B339-DCE7-241D-A1F75FD163D6}"/>
              </a:ext>
            </a:extLst>
          </p:cNvPr>
          <p:cNvSpPr txBox="1"/>
          <p:nvPr/>
        </p:nvSpPr>
        <p:spPr>
          <a:xfrm>
            <a:off x="-4106884" y="172593"/>
            <a:ext cx="3901043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При разработке проекта использовались следующие технологии: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Python — основной язык разработки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Flask — создание веб-приложения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маршрутизации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SQLAlchemy — работа с базой данных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через ORM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SQLite — хранение данных приложения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Flask-Login — система регистрации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авторизации пользователей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Pillow — обработка и оптимизация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изображений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HTML, CSS и Jinja2 — создание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пользовательского интерфейса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l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1657A-A928-93CC-7B4D-A92A686931D0}"/>
              </a:ext>
            </a:extLst>
          </p:cNvPr>
          <p:cNvSpPr txBox="1"/>
          <p:nvPr/>
        </p:nvSpPr>
        <p:spPr>
          <a:xfrm>
            <a:off x="8184076" y="223254"/>
            <a:ext cx="3901043" cy="6771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 особенностям проекта можно отнести:</a:t>
            </a:r>
            <a:endParaRPr lang="ru-RU"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регистрацию и авторизацию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пользователей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создание, редактирование и удаление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рецептов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загрузку изображений блюд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систему лайков, просмотров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комментариев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подписки на других пользователей</a:t>
            </a:r>
            <a:endParaRPr lang="ru-RU"/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встроенный чат между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пользователями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поиск рецептов и пользователей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фильтрацию рецептов по категориям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параметрам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адаптивную структуру интерфейса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разделение логики по модулям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4079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E4FAA37-2007-0142-7FDE-55715A78A87B}"/>
              </a:ext>
            </a:extLst>
          </p:cNvPr>
          <p:cNvSpPr/>
          <p:nvPr/>
        </p:nvSpPr>
        <p:spPr>
          <a:xfrm>
            <a:off x="4146603" y="216088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6EE38-56AB-D4A0-364E-5B30362083B9}"/>
              </a:ext>
            </a:extLst>
          </p:cNvPr>
          <p:cNvSpPr txBox="1"/>
          <p:nvPr/>
        </p:nvSpPr>
        <p:spPr>
          <a:xfrm>
            <a:off x="4146467" y="332110"/>
            <a:ext cx="3901043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Основная логика приложения реализована в файле main.py, где находятся маршруты Flask, обработка запросов и взаимодействие с базой данных.</a:t>
            </a:r>
            <a:endParaRPr lang="ru-RU"/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Для работы с данными используется отдельный пакет data, содержащий классы моделей:</a:t>
            </a: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User — хранение информации о пользователях, авторизация и работа с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паролями</a:t>
            </a: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Recipe — хранение рецептов, ингредиентов, изображений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характеристик блюда</a:t>
            </a: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Comment — система комментариев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ответов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Like — обработка лайков;</a:t>
            </a: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Subscription — подписки между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пользователями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Message — личные сообщения и чат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View — учёт просмотров рецептов</a:t>
            </a: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db_session — настройка подключения к базе данных и создание сессий SQLAlchemy.</a:t>
            </a:r>
          </a:p>
          <a:p>
            <a:pPr algn="l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43ED0E6-2FFE-91AC-D3FD-AE5D661A4C07}"/>
              </a:ext>
            </a:extLst>
          </p:cNvPr>
          <p:cNvSpPr/>
          <p:nvPr/>
        </p:nvSpPr>
        <p:spPr>
          <a:xfrm>
            <a:off x="108992" y="216088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2CD645E-C714-EB0E-D3F4-8E9ACB24DD07}"/>
              </a:ext>
            </a:extLst>
          </p:cNvPr>
          <p:cNvSpPr/>
          <p:nvPr/>
        </p:nvSpPr>
        <p:spPr>
          <a:xfrm>
            <a:off x="8184213" y="216087"/>
            <a:ext cx="3898204" cy="6402676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93F3E-2621-6F7A-C4FC-D7A564D5BF47}"/>
              </a:ext>
            </a:extLst>
          </p:cNvPr>
          <p:cNvSpPr txBox="1"/>
          <p:nvPr/>
        </p:nvSpPr>
        <p:spPr>
          <a:xfrm>
            <a:off x="108856" y="212177"/>
            <a:ext cx="3901043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При разработке проекта использовались следующие технологии: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Python — основной язык разработки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Flask — создание веб-приложения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маршрутизации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SQLAlchemy — работа с базой данных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через ORM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SQLite — хранение данных приложения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Flask-Login — система регистрации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авторизации пользователей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Pillow — обработка и оптимизация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изображений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HTML, CSS и Jinja2 — создание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пользовательского интерфейса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l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550CE-65FD-5C3D-1F65-6FA367B70EA2}"/>
              </a:ext>
            </a:extLst>
          </p:cNvPr>
          <p:cNvSpPr txBox="1"/>
          <p:nvPr/>
        </p:nvSpPr>
        <p:spPr>
          <a:xfrm>
            <a:off x="8184076" y="223254"/>
            <a:ext cx="3901043" cy="6771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 особенностям проекта можно отнести:</a:t>
            </a:r>
            <a:endParaRPr lang="ru-RU"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регистрацию и авторизацию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пользователей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создание, редактирование и удаление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рецептов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загрузку изображений блюд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систему лайков, просмотров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комментариев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подписки на других пользователей</a:t>
            </a:r>
            <a:endParaRPr lang="ru-RU"/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встроенный чат между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пользователями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• поиск рецептов и пользователей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фильтрацию рецептов по категориям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параметрам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ctr"/>
            <a:r>
              <a:rPr lang="ru-RU" sz="1600" dirty="0">
                <a:solidFill>
                  <a:srgbClr val="323336"/>
                </a:solidFill>
                <a:ea typeface="+mn-lt"/>
                <a:cs typeface="+mn-lt"/>
              </a:rPr>
              <a:t>• адаптивную структуру интерфейса и </a:t>
            </a:r>
            <a:r>
              <a:rPr lang="ru-RU" sz="1600">
                <a:solidFill>
                  <a:srgbClr val="323336"/>
                </a:solidFill>
                <a:ea typeface="+mn-lt"/>
                <a:cs typeface="+mn-lt"/>
              </a:rPr>
              <a:t>разделение логики по модулям</a:t>
            </a:r>
            <a:endParaRPr lang="ru-RU">
              <a:ea typeface="+mn-lt"/>
              <a:cs typeface="+mn-lt"/>
            </a:endParaRPr>
          </a:p>
          <a:p>
            <a:pPr algn="ctr"/>
            <a:endParaRPr lang="ru-RU" sz="1600" dirty="0">
              <a:solidFill>
                <a:srgbClr val="323336"/>
              </a:solidFill>
              <a:ea typeface="+mn-lt"/>
              <a:cs typeface="+mn-lt"/>
            </a:endParaRP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8450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380C25E-4A4B-2EE2-8DA3-DCFC924A2E0C}"/>
              </a:ext>
            </a:extLst>
          </p:cNvPr>
          <p:cNvSpPr/>
          <p:nvPr/>
        </p:nvSpPr>
        <p:spPr>
          <a:xfrm>
            <a:off x="244907" y="212580"/>
            <a:ext cx="4476938" cy="3383362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1E613-D89E-E4CB-D4C2-796AA276A225}"/>
              </a:ext>
            </a:extLst>
          </p:cNvPr>
          <p:cNvSpPr txBox="1"/>
          <p:nvPr/>
        </p:nvSpPr>
        <p:spPr>
          <a:xfrm>
            <a:off x="366531" y="462744"/>
            <a:ext cx="423826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В ходе выполнения проекта было разработано полноценное веб-приложение для публикации и поиска рецептов с элементами социальной сети. Были реализованы основные функции: регистрация и авторизация пользователей, создание рецептов, система комментариев и лайков, подписки, поиск и обмен сообщениями между пользователями.</a:t>
            </a:r>
            <a:endParaRPr lang="ru-RU" dirty="0">
              <a:solidFill>
                <a:srgbClr val="323336"/>
              </a:solidFill>
              <a:ea typeface="+mn-lt"/>
              <a:cs typeface="+mn-lt"/>
            </a:endParaRPr>
          </a:p>
          <a:p>
            <a:endParaRPr lang="ru-RU" dirty="0">
              <a:solidFill>
                <a:srgbClr val="323336"/>
              </a:solidFill>
              <a:ea typeface="+mn-lt"/>
              <a:cs typeface="+mn-lt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5A93750-5EF1-68FE-878E-B5CB534EEDD8}"/>
              </a:ext>
            </a:extLst>
          </p:cNvPr>
          <p:cNvSpPr/>
          <p:nvPr/>
        </p:nvSpPr>
        <p:spPr>
          <a:xfrm>
            <a:off x="4951944" y="212579"/>
            <a:ext cx="4476938" cy="3383362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B6879-F981-0C7F-3B5A-7BE27ECEDCF4}"/>
              </a:ext>
            </a:extLst>
          </p:cNvPr>
          <p:cNvSpPr txBox="1"/>
          <p:nvPr/>
        </p:nvSpPr>
        <p:spPr>
          <a:xfrm>
            <a:off x="5110274" y="459578"/>
            <a:ext cx="400676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Во время разработки были изучены принципы клиент-серверной архитектуры, работа с базами данных, организация взаимодействия между модулями приложения и создание пользовательского интерфейса. Использование Flask и SQLAlchemy позволило создать удобную и расширяемую структуру проекта.</a:t>
            </a:r>
            <a:endParaRPr lang="ru-RU">
              <a:solidFill>
                <a:srgbClr val="323336"/>
              </a:solidFill>
            </a:endParaRPr>
          </a:p>
          <a:p>
            <a:pPr algn="l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175E728-E5DC-CCB4-C749-8EB893D1BF63}"/>
              </a:ext>
            </a:extLst>
          </p:cNvPr>
          <p:cNvSpPr/>
          <p:nvPr/>
        </p:nvSpPr>
        <p:spPr>
          <a:xfrm>
            <a:off x="244907" y="4022580"/>
            <a:ext cx="4476938" cy="2187311"/>
          </a:xfrm>
          <a:prstGeom prst="roundRect">
            <a:avLst/>
          </a:prstGeom>
          <a:solidFill>
            <a:srgbClr val="EDE8ED"/>
          </a:solidFill>
          <a:ln>
            <a:solidFill>
              <a:srgbClr val="EDE8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BFE67-D3FD-6FF4-B9CC-847BB2F0F04C}"/>
              </a:ext>
            </a:extLst>
          </p:cNvPr>
          <p:cNvSpPr txBox="1"/>
          <p:nvPr/>
        </p:nvSpPr>
        <p:spPr>
          <a:xfrm>
            <a:off x="366530" y="4115692"/>
            <a:ext cx="423826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solidFill>
                  <a:srgbClr val="323336"/>
                </a:solidFill>
                <a:ea typeface="+mn-lt"/>
                <a:cs typeface="+mn-lt"/>
              </a:rPr>
              <a:t>Проект имеет возможности для дальнейшего развития. В будущем можно добавить: поддержку видео-рецептов, расширенную сортировку и фильтрацию, уведомления для пользователей, сохранение рецептов в избранное и многое другое</a:t>
            </a:r>
            <a:endParaRPr lang="ru-RU"/>
          </a:p>
          <a:p>
            <a:endParaRPr lang="ru-RU" dirty="0">
              <a:solidFill>
                <a:srgbClr val="323336"/>
              </a:solidFill>
              <a:ea typeface="+mn-lt"/>
              <a:cs typeface="+mn-lt"/>
            </a:endParaRPr>
          </a:p>
          <a:p>
            <a:endParaRPr lang="ru-RU" dirty="0">
              <a:solidFill>
                <a:srgbClr val="323336"/>
              </a:solidFill>
              <a:ea typeface="+mn-lt"/>
              <a:cs typeface="+mn-lt"/>
            </a:endParaRPr>
          </a:p>
        </p:txBody>
      </p:sp>
      <p:pic>
        <p:nvPicPr>
          <p:cNvPr id="11" name="Рисунок 10" descr="Изображение выглядит как цветок, растение, лепесток, Прострел раскры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69168E-194B-993D-D52D-2E121EEF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817" y="2933338"/>
            <a:ext cx="3095505" cy="316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103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348</cp:revision>
  <dcterms:created xsi:type="dcterms:W3CDTF">2026-04-26T14:04:25Z</dcterms:created>
  <dcterms:modified xsi:type="dcterms:W3CDTF">2026-05-09T16:50:46Z</dcterms:modified>
</cp:coreProperties>
</file>